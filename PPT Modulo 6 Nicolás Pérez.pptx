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6858000" cx="12192000"/>
  <p:notesSz cx="6858000" cy="9144000"/>
  <p:embeddedFontLst>
    <p:embeddedFont>
      <p:font typeface="Inter SemiBold"/>
      <p:regular r:id="rId15"/>
      <p:bold r:id="rId16"/>
      <p:italic r:id="rId17"/>
      <p:boldItalic r:id="rId18"/>
    </p:embeddedFont>
    <p:embeddedFont>
      <p:font typeface="Inter"/>
      <p:regular r:id="rId19"/>
      <p:bold r:id="rId20"/>
      <p:italic r:id="rId21"/>
      <p:boldItalic r:id="rId22"/>
    </p:embeddedFont>
    <p:embeddedFont>
      <p:font typeface="Poppins"/>
      <p:regular r:id="rId23"/>
      <p:bold r:id="rId24"/>
      <p:italic r:id="rId25"/>
      <p:boldItalic r:id="rId26"/>
    </p:embeddedFont>
    <p:embeddedFont>
      <p:font typeface="Poppins SemiBold"/>
      <p:regular r:id="rId27"/>
      <p:bold r:id="rId28"/>
      <p:italic r:id="rId29"/>
      <p:boldItalic r:id="rId30"/>
    </p:embeddedFont>
    <p:embeddedFont>
      <p:font typeface="Poppins ExtraBold"/>
      <p:bold r:id="rId31"/>
      <p:boldItalic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-bold.fntdata"/><Relationship Id="rId22" Type="http://schemas.openxmlformats.org/officeDocument/2006/relationships/font" Target="fonts/Inter-boldItalic.fntdata"/><Relationship Id="rId21" Type="http://schemas.openxmlformats.org/officeDocument/2006/relationships/font" Target="fonts/Inter-italic.fntdata"/><Relationship Id="rId24" Type="http://schemas.openxmlformats.org/officeDocument/2006/relationships/font" Target="fonts/Poppins-bold.fntdata"/><Relationship Id="rId23" Type="http://schemas.openxmlformats.org/officeDocument/2006/relationships/font" Target="fonts/Poppins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Poppins-boldItalic.fntdata"/><Relationship Id="rId25" Type="http://schemas.openxmlformats.org/officeDocument/2006/relationships/font" Target="fonts/Poppins-italic.fntdata"/><Relationship Id="rId28" Type="http://schemas.openxmlformats.org/officeDocument/2006/relationships/font" Target="fonts/PoppinsSemiBold-bold.fntdata"/><Relationship Id="rId27" Type="http://schemas.openxmlformats.org/officeDocument/2006/relationships/font" Target="fonts/PoppinsSemiBold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PoppinsSemiBold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PoppinsExtraBold-bold.fntdata"/><Relationship Id="rId30" Type="http://schemas.openxmlformats.org/officeDocument/2006/relationships/font" Target="fonts/PoppinsSemiBold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32" Type="http://schemas.openxmlformats.org/officeDocument/2006/relationships/font" Target="fonts/PoppinsExtraBold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font" Target="fonts/InterSemiBold-regular.fntdata"/><Relationship Id="rId14" Type="http://schemas.openxmlformats.org/officeDocument/2006/relationships/slide" Target="slides/slide9.xml"/><Relationship Id="rId17" Type="http://schemas.openxmlformats.org/officeDocument/2006/relationships/font" Target="fonts/InterSemiBold-italic.fntdata"/><Relationship Id="rId16" Type="http://schemas.openxmlformats.org/officeDocument/2006/relationships/font" Target="fonts/InterSemiBold-bold.fntdata"/><Relationship Id="rId19" Type="http://schemas.openxmlformats.org/officeDocument/2006/relationships/font" Target="fonts/Inter-regular.fntdata"/><Relationship Id="rId18" Type="http://schemas.openxmlformats.org/officeDocument/2006/relationships/font" Target="fonts/InterSemiBold-bold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1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2.png"/><Relationship Id="rId6" Type="http://schemas.openxmlformats.org/officeDocument/2006/relationships/image" Target="../media/image16.png"/><Relationship Id="rId7" Type="http://schemas.openxmlformats.org/officeDocument/2006/relationships/image" Target="../media/image1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1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14.png"/><Relationship Id="rId5" Type="http://schemas.openxmlformats.org/officeDocument/2006/relationships/image" Target="../media/image8.png"/><Relationship Id="rId6" Type="http://schemas.openxmlformats.org/officeDocument/2006/relationships/image" Target="../media/image5.png"/><Relationship Id="rId7" Type="http://schemas.openxmlformats.org/officeDocument/2006/relationships/image" Target="../media/image10.png"/><Relationship Id="rId8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17.png"/><Relationship Id="rId5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1095375" y="1820316"/>
            <a:ext cx="10001250" cy="1466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250" u="none" cap="none" strike="noStrike">
                <a:solidFill>
                  <a:srgbClr val="1E3A8A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Análisis de Hábitos Saludables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1333500" y="3477666"/>
            <a:ext cx="9525000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Impacto del Sueño, Estrés y Actividad Física en el Rendimiento Académico Universitario.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1333500" y="4590008"/>
            <a:ext cx="9525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E3A8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Presentado al Área de Salud Universitaria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2" name="Google Shape;9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/>
          <p:cNvSpPr txBox="1"/>
          <p:nvPr/>
        </p:nvSpPr>
        <p:spPr>
          <a:xfrm>
            <a:off x="571500" y="571500"/>
            <a:ext cx="5550693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El Problema de Investigación</a:t>
            </a:r>
            <a:endParaRPr/>
          </a:p>
        </p:txBody>
      </p:sp>
      <p:pic>
        <p:nvPicPr>
          <p:cNvPr descr="image.png" id="94" name="Google Shape;94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0"/>
            <a:ext cx="585787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/>
          <p:cNvSpPr txBox="1"/>
          <p:nvPr/>
        </p:nvSpPr>
        <p:spPr>
          <a:xfrm>
            <a:off x="571500" y="2238375"/>
            <a:ext cx="5550693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97316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El Reto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571500" y="2838450"/>
            <a:ext cx="528637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La universidad necesita comprender a fondo cómo los hábitos de vida de los estudiantes afectan de forma directa su desempeño académico diario.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571500" y="4181475"/>
            <a:ext cx="5550693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97316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Nuestra Metodología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571500" y="4781550"/>
            <a:ext cx="5286375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¿Existe una relación medible entre las horas de sueño, el estrés y las calificaciones (GPA)? Para averiguarlo, analizamos una muestra robusta de </a:t>
            </a:r>
            <a:r>
              <a:rPr b="1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2,000 estudiantes</a:t>
            </a: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mediante Muestreo Aleatorio Simple.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3" name="Google Shape;103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4" name="Google Shape;104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195387"/>
            <a:ext cx="11049000" cy="5419725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5"/>
          <p:cNvSpPr/>
          <p:nvPr/>
        </p:nvSpPr>
        <p:spPr>
          <a:xfrm>
            <a:off x="571500" y="5386387"/>
            <a:ext cx="11049000" cy="10858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5"/>
          <p:cNvSpPr txBox="1"/>
          <p:nvPr/>
        </p:nvSpPr>
        <p:spPr>
          <a:xfrm>
            <a:off x="857250" y="5624512"/>
            <a:ext cx="104775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Nuestra radiografía de salud revela que más de la mitad de la población estudiantil se percibe bajo una gran presión, siendo un factor de riesgo predominante.</a:t>
            </a:r>
            <a:endParaRPr/>
          </a:p>
        </p:txBody>
      </p:sp>
      <p:sp>
        <p:nvSpPr>
          <p:cNvPr id="107" name="Google Shape;107;p15"/>
          <p:cNvSpPr/>
          <p:nvPr/>
        </p:nvSpPr>
        <p:spPr>
          <a:xfrm>
            <a:off x="571500" y="5386387"/>
            <a:ext cx="57150" cy="108585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5"/>
          <p:cNvSpPr txBox="1"/>
          <p:nvPr/>
        </p:nvSpPr>
        <p:spPr>
          <a:xfrm>
            <a:off x="571500" y="242887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Prevalencia de Estrés Alto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3" name="Google Shape;113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6"/>
          <p:cNvSpPr txBox="1"/>
          <p:nvPr/>
        </p:nvSpPr>
        <p:spPr>
          <a:xfrm>
            <a:off x="571500" y="2395537"/>
            <a:ext cx="5286375" cy="13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0" u="none" cap="none" strike="noStrike">
                <a:solidFill>
                  <a:srgbClr val="EF4444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26.9%</a:t>
            </a:r>
            <a:endParaRPr/>
          </a:p>
        </p:txBody>
      </p:sp>
      <p:sp>
        <p:nvSpPr>
          <p:cNvPr id="115" name="Google Shape;115;p16"/>
          <p:cNvSpPr txBox="1"/>
          <p:nvPr/>
        </p:nvSpPr>
        <p:spPr>
          <a:xfrm>
            <a:off x="571500" y="3824287"/>
            <a:ext cx="5286375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rPr>
              <a:t>DE LA POBLACIÓN</a:t>
            </a:r>
            <a:endParaRPr/>
          </a:p>
        </p:txBody>
      </p:sp>
      <p:sp>
        <p:nvSpPr>
          <p:cNvPr id="116" name="Google Shape;116;p16"/>
          <p:cNvSpPr txBox="1"/>
          <p:nvPr/>
        </p:nvSpPr>
        <p:spPr>
          <a:xfrm>
            <a:off x="6334125" y="2395537"/>
            <a:ext cx="5550693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EF4444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Intervención Inmediata</a:t>
            </a:r>
            <a:endParaRPr/>
          </a:p>
        </p:txBody>
      </p:sp>
      <p:sp>
        <p:nvSpPr>
          <p:cNvPr id="117" name="Google Shape;117;p16"/>
          <p:cNvSpPr txBox="1"/>
          <p:nvPr/>
        </p:nvSpPr>
        <p:spPr>
          <a:xfrm>
            <a:off x="6334125" y="2995612"/>
            <a:ext cx="5286375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Al analizar la probabilidad de intersección, descubrimos que un grupo significativo de alumnos presenta </a:t>
            </a:r>
            <a:r>
              <a:rPr b="1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ambos problemas simultáneamente</a:t>
            </a: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(estrés severo y privación de sueño, durmiendo menos de 7 horas).</a:t>
            </a:r>
            <a:endParaRPr/>
          </a:p>
        </p:txBody>
      </p:sp>
      <p:sp>
        <p:nvSpPr>
          <p:cNvPr id="118" name="Google Shape;118;p16"/>
          <p:cNvSpPr txBox="1"/>
          <p:nvPr/>
        </p:nvSpPr>
        <p:spPr>
          <a:xfrm>
            <a:off x="6334125" y="4357687"/>
            <a:ext cx="528637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Esto representa a más de 500 estudiantes de nuestra muestra que requieren programas de apoyo integral de manera urgente.</a:t>
            </a:r>
            <a:endParaRPr/>
          </a:p>
        </p:txBody>
      </p:sp>
      <p:sp>
        <p:nvSpPr>
          <p:cNvPr id="119" name="Google Shape;119;p16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La Zona de Riesgo Doble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4" name="Google Shape;12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5" name="Google Shape;125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057400"/>
            <a:ext cx="5286375" cy="3695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6" name="Google Shape;126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2057400"/>
            <a:ext cx="5286375" cy="3695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7" name="Google Shape;127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62025" y="2447925"/>
            <a:ext cx="4505325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7"/>
          <p:cNvSpPr txBox="1"/>
          <p:nvPr/>
        </p:nvSpPr>
        <p:spPr>
          <a:xfrm>
            <a:off x="849391" y="3095625"/>
            <a:ext cx="4730591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14B8A6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Distribución Normal</a:t>
            </a:r>
            <a:endParaRPr/>
          </a:p>
        </p:txBody>
      </p:sp>
      <p:sp>
        <p:nvSpPr>
          <p:cNvPr id="129" name="Google Shape;129;p17"/>
          <p:cNvSpPr txBox="1"/>
          <p:nvPr/>
        </p:nvSpPr>
        <p:spPr>
          <a:xfrm>
            <a:off x="962025" y="3695700"/>
            <a:ext cx="4505325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Verificamos que las horas de sueño por noche siguen una Distribución Normal perfecta (campana de Gauss). El promedio general de descanso en la universidad es de exactamente </a:t>
            </a:r>
            <a:r>
              <a:rPr b="1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7.5 horas</a:t>
            </a: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pic>
        <p:nvPicPr>
          <p:cNvPr descr="image.png" id="130" name="Google Shape;130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724650" y="2447925"/>
            <a:ext cx="4505325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7"/>
          <p:cNvSpPr txBox="1"/>
          <p:nvPr/>
        </p:nvSpPr>
        <p:spPr>
          <a:xfrm>
            <a:off x="6612016" y="3095625"/>
            <a:ext cx="4730591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14B8A6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Teorema del Límite Central</a:t>
            </a:r>
            <a:endParaRPr/>
          </a:p>
        </p:txBody>
      </p:sp>
      <p:sp>
        <p:nvSpPr>
          <p:cNvPr id="132" name="Google Shape;132;p17"/>
          <p:cNvSpPr txBox="1"/>
          <p:nvPr/>
        </p:nvSpPr>
        <p:spPr>
          <a:xfrm>
            <a:off x="6724650" y="3695700"/>
            <a:ext cx="4505400" cy="17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Comprobamos empíricamente </a:t>
            </a:r>
            <a:r>
              <a:rPr lang="en-US" sz="15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de </a:t>
            </a: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muestra de N=2000 estudiantes, la distribución de las medias se comporta de forma predecible, permitiéndonos generar inferencias altamente precisas.</a:t>
            </a:r>
            <a:endParaRPr/>
          </a:p>
        </p:txBody>
      </p:sp>
      <p:sp>
        <p:nvSpPr>
          <p:cNvPr id="133" name="Google Shape;133;p17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Comportamiento de los Datos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8" name="Google Shape;138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9" name="Google Shape;139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524000"/>
            <a:ext cx="11049000" cy="4762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8"/>
          <p:cNvSpPr/>
          <p:nvPr/>
        </p:nvSpPr>
        <p:spPr>
          <a:xfrm>
            <a:off x="571500" y="4338637"/>
            <a:ext cx="11049000" cy="10858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8"/>
          <p:cNvSpPr txBox="1"/>
          <p:nvPr/>
        </p:nvSpPr>
        <p:spPr>
          <a:xfrm>
            <a:off x="857250" y="4576762"/>
            <a:ext cx="104775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Test de T-Student:</a:t>
            </a:r>
            <a:r>
              <a:rPr b="0" i="1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El análisis arrojó un p-valor de 0.25 (</a:t>
            </a:r>
            <a:r>
              <a:rPr b="1" i="1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mayor al margen de 0.05</a:t>
            </a:r>
            <a:r>
              <a:rPr b="0" i="1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). Con un </a:t>
            </a:r>
            <a:r>
              <a:rPr b="1" i="1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95% de confianza</a:t>
            </a:r>
            <a:r>
              <a:rPr b="0" i="1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(GPA estimado entre 7.75 y 7.82), la í</a:t>
            </a:r>
            <a:r>
              <a:rPr b="1" i="1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nfima diferencia de notas carece de significancia estadística</a:t>
            </a:r>
            <a:r>
              <a:rPr b="0" i="1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sp>
        <p:nvSpPr>
          <p:cNvPr id="142" name="Google Shape;142;p18"/>
          <p:cNvSpPr/>
          <p:nvPr/>
        </p:nvSpPr>
        <p:spPr>
          <a:xfrm>
            <a:off x="571500" y="4338637"/>
            <a:ext cx="57150" cy="108585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8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Comparación de Promedios (GPA)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8" name="Google Shape;148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9"/>
          <p:cNvSpPr txBox="1"/>
          <p:nvPr/>
        </p:nvSpPr>
        <p:spPr>
          <a:xfrm>
            <a:off x="571500" y="571500"/>
            <a:ext cx="5550693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Conclusión y Veredicto</a:t>
            </a:r>
            <a:endParaRPr/>
          </a:p>
        </p:txBody>
      </p:sp>
      <p:pic>
        <p:nvPicPr>
          <p:cNvPr descr="image.png" id="150" name="Google Shape;150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0"/>
            <a:ext cx="585787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9"/>
          <p:cNvSpPr txBox="1"/>
          <p:nvPr/>
        </p:nvSpPr>
        <p:spPr>
          <a:xfrm>
            <a:off x="571500" y="2243137"/>
            <a:ext cx="5550693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2563E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No se rechaza la Hipótesis Nula</a:t>
            </a:r>
            <a:endParaRPr/>
          </a:p>
        </p:txBody>
      </p:sp>
      <p:sp>
        <p:nvSpPr>
          <p:cNvPr id="152" name="Google Shape;152;p19"/>
          <p:cNvSpPr txBox="1"/>
          <p:nvPr/>
        </p:nvSpPr>
        <p:spPr>
          <a:xfrm>
            <a:off x="571500" y="2843212"/>
            <a:ext cx="5286300" cy="13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La diferencia de calificaciones entre quienes duermen bien y quienes duermen mal es estadísticamente insignificante. No podemos afirmar que la falta de sueño </a:t>
            </a:r>
            <a:r>
              <a:rPr lang="en-US" sz="15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afecte </a:t>
            </a: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las calificaciones por sí sola.</a:t>
            </a:r>
            <a:endParaRPr/>
          </a:p>
        </p:txBody>
      </p:sp>
      <p:sp>
        <p:nvSpPr>
          <p:cNvPr id="153" name="Google Shape;153;p19"/>
          <p:cNvSpPr txBox="1"/>
          <p:nvPr/>
        </p:nvSpPr>
        <p:spPr>
          <a:xfrm>
            <a:off x="571500" y="4205287"/>
            <a:ext cx="5286375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Asumir lo contrario sería caer en un </a:t>
            </a:r>
            <a:r>
              <a:rPr b="1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Error Tipo I (Falso Positivo)</a:t>
            </a: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, lo que provocaría que la universidad invierta recursos valiosos en campañas que no resolverán el problema del rendimiento.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8" name="Google Shape;158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9" name="Google Shape;159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571625"/>
            <a:ext cx="3429000" cy="4667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0" name="Google Shape;160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81500" y="1571625"/>
            <a:ext cx="3429000" cy="4667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1" name="Google Shape;161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91500" y="1571625"/>
            <a:ext cx="3429000" cy="466725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20"/>
          <p:cNvSpPr txBox="1"/>
          <p:nvPr/>
        </p:nvSpPr>
        <p:spPr>
          <a:xfrm>
            <a:off x="935831" y="2819400"/>
            <a:ext cx="270033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1E3A8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Foco en el Estrés</a:t>
            </a:r>
            <a:endParaRPr/>
          </a:p>
        </p:txBody>
      </p:sp>
      <p:sp>
        <p:nvSpPr>
          <p:cNvPr id="163" name="Google Shape;163;p20"/>
          <p:cNvSpPr txBox="1"/>
          <p:nvPr/>
        </p:nvSpPr>
        <p:spPr>
          <a:xfrm>
            <a:off x="866775" y="3419475"/>
            <a:ext cx="283845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Dado que el 51.4% presenta estrés alto, las políticas de salud deben reorientarse hacia campañas de manejo de ansiedad y reducción de la sobrecarga académica.</a:t>
            </a:r>
            <a:endParaRPr/>
          </a:p>
        </p:txBody>
      </p:sp>
      <p:sp>
        <p:nvSpPr>
          <p:cNvPr id="164" name="Google Shape;164;p20"/>
          <p:cNvSpPr txBox="1"/>
          <p:nvPr/>
        </p:nvSpPr>
        <p:spPr>
          <a:xfrm>
            <a:off x="4605813" y="2819400"/>
            <a:ext cx="2980372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1E3A8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Acción Focalizada</a:t>
            </a:r>
            <a:endParaRPr/>
          </a:p>
        </p:txBody>
      </p:sp>
      <p:sp>
        <p:nvSpPr>
          <p:cNvPr id="165" name="Google Shape;165;p20"/>
          <p:cNvSpPr txBox="1"/>
          <p:nvPr/>
        </p:nvSpPr>
        <p:spPr>
          <a:xfrm>
            <a:off x="4676775" y="3876675"/>
            <a:ext cx="283845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Es imperativo crear programas de intervención inmediata y apoyo psicológico para el 26.9% de los alumnos que presentan el "doble riesgo" de mal sueño y estrés extremo.</a:t>
            </a:r>
            <a:endParaRPr/>
          </a:p>
        </p:txBody>
      </p:sp>
      <p:sp>
        <p:nvSpPr>
          <p:cNvPr id="166" name="Google Shape;166;p20"/>
          <p:cNvSpPr txBox="1"/>
          <p:nvPr/>
        </p:nvSpPr>
        <p:spPr>
          <a:xfrm>
            <a:off x="8545830" y="2819400"/>
            <a:ext cx="27203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1E3A8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Nuevos Estudios</a:t>
            </a:r>
            <a:endParaRPr/>
          </a:p>
        </p:txBody>
      </p:sp>
      <p:sp>
        <p:nvSpPr>
          <p:cNvPr id="167" name="Google Shape;167;p20"/>
          <p:cNvSpPr txBox="1"/>
          <p:nvPr/>
        </p:nvSpPr>
        <p:spPr>
          <a:xfrm>
            <a:off x="8486775" y="3419475"/>
            <a:ext cx="283845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Para no desviar el enfoque de bienestar, recomendamos investigar las "Horas de Estudio" cruzadas con el Estrés para hallar al verdadero responsable del bajo GPA.</a:t>
            </a:r>
            <a:endParaRPr/>
          </a:p>
        </p:txBody>
      </p:sp>
      <p:pic>
        <p:nvPicPr>
          <p:cNvPr descr="image.png" id="168" name="Google Shape;168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028825" y="2009775"/>
            <a:ext cx="514350" cy="514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9" name="Google Shape;169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05487" y="2009775"/>
            <a:ext cx="581025" cy="514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0" name="Google Shape;170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648825" y="2009775"/>
            <a:ext cx="514350" cy="51435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20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Siguientes Pasos y Políticas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6" name="Google Shape;176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21"/>
          <p:cNvSpPr/>
          <p:nvPr/>
        </p:nvSpPr>
        <p:spPr>
          <a:xfrm>
            <a:off x="571500" y="3026122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21"/>
          <p:cNvSpPr/>
          <p:nvPr/>
        </p:nvSpPr>
        <p:spPr>
          <a:xfrm>
            <a:off x="571500" y="380136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21"/>
          <p:cNvSpPr/>
          <p:nvPr/>
        </p:nvSpPr>
        <p:spPr>
          <a:xfrm>
            <a:off x="571500" y="380136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80" name="Google Shape;180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17554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21"/>
          <p:cNvSpPr txBox="1"/>
          <p:nvPr/>
        </p:nvSpPr>
        <p:spPr>
          <a:xfrm>
            <a:off x="1666875" y="3168997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https://www.fullsail.edu/assets/ext/about/about-fsStories/library-inline.jpg</a:t>
            </a:r>
            <a:endParaRPr/>
          </a:p>
        </p:txBody>
      </p:sp>
      <p:sp>
        <p:nvSpPr>
          <p:cNvPr id="182" name="Google Shape;182;p21"/>
          <p:cNvSpPr txBox="1"/>
          <p:nvPr/>
        </p:nvSpPr>
        <p:spPr>
          <a:xfrm>
            <a:off x="1666875" y="3414712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www.fullsail.edu</a:t>
            </a:r>
            <a:endParaRPr/>
          </a:p>
        </p:txBody>
      </p:sp>
      <p:pic>
        <p:nvPicPr>
          <p:cNvPr descr="image.png" id="183" name="Google Shape;183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405943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1"/>
          <p:cNvSpPr txBox="1"/>
          <p:nvPr/>
        </p:nvSpPr>
        <p:spPr>
          <a:xfrm>
            <a:off x="1666875" y="3953767"/>
            <a:ext cx="995362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https://d3njjcbhbojbot.cloudfront.net/api/utilities/v1/imageproxy/https://images.ctfassets.net/wp1lcwdav1p1/2BXkg2yAyHZhrIiCh7kU2/f6056016866d29372996fb07fca41b20/GettyImages-1308902754.jpg?w=1500&amp;h=680&amp;q=60&amp;fit=fill&amp;f=faces&amp;fm=jpg&amp;fl=progressive&amp;auto=format%2Ccompress&amp;dpr=1&amp;w=1000</a:t>
            </a:r>
            <a:endParaRPr/>
          </a:p>
        </p:txBody>
      </p:sp>
      <p:sp>
        <p:nvSpPr>
          <p:cNvPr id="185" name="Google Shape;185;p21"/>
          <p:cNvSpPr txBox="1"/>
          <p:nvPr/>
        </p:nvSpPr>
        <p:spPr>
          <a:xfrm>
            <a:off x="1666875" y="4397573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www.coursera.org</a:t>
            </a:r>
            <a:endParaRPr/>
          </a:p>
        </p:txBody>
      </p:sp>
      <p:sp>
        <p:nvSpPr>
          <p:cNvPr id="186" name="Google Shape;186;p21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Image Sources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